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JetBrains Mono" panose="020B0604020202020204" charset="0"/>
      <p:regular r:id="rId15"/>
      <p:bold r:id="rId16"/>
      <p:italic r:id="rId17"/>
      <p:boldItalic r:id="rId18"/>
    </p:embeddedFont>
    <p:embeddedFont>
      <p:font typeface="Urbanist" panose="020B0604020202020204" charset="0"/>
      <p:regular r:id="rId19"/>
      <p:bold r:id="rId20"/>
      <p:italic r:id="rId21"/>
      <p:boldItalic r:id="rId22"/>
    </p:embeddedFont>
    <p:embeddedFont>
      <p:font typeface="Urbanist Medium" panose="020B0604020202020204" charset="0"/>
      <p:regular r:id="rId23"/>
      <p:bold r:id="rId24"/>
      <p:italic r:id="rId25"/>
      <p:boldItalic r:id="rId26"/>
    </p:embeddedFont>
    <p:embeddedFont>
      <p:font typeface="Urbanist SemiBold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B2207E-046F-40BC-A5E8-B29679C286B8}">
  <a:tblStyle styleId="{A7B2207E-046F-40BC-A5E8-B29679C286B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53828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VERSION 1.0.0 | DEC 2025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233612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Examination</a:t>
            </a:r>
            <a:r>
              <a:rPr lang="en-US" sz="6000" b="1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167062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Complete Database &amp; Stored Procedures Documentation for Training Centers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60533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Build by: Basel Ashraf, Abdelaziz Gamal, Yossef Ahmed Kassab, Salah Aymn, Mahmoud Eid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5033962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Environment: Microsoft SQL Server (T-SQL)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0993"/>
            <a:ext cx="352425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470993"/>
            <a:ext cx="352425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470993"/>
            <a:ext cx="352425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57250" y="3442543"/>
            <a:ext cx="3100387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Centralized Management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57250" y="4261693"/>
            <a:ext cx="29527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Managed multiple branches, tracks, courses, and instructors in one relational hub, eliminating data silos.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19625" y="3442543"/>
            <a:ext cx="3100387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Randomized Generation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19625" y="4261693"/>
            <a:ext cx="29527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Controlled exam creation from course-specific question banks using automated randomization algorithms.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382000" y="3442543"/>
            <a:ext cx="31003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Automated Correction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382000" y="3937843"/>
            <a:ext cx="29527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Safe answer submission flow with instant automated grading and precise reporting for all stakeholders.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82341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19625" y="282341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Critical Problems Solved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E34C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075705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6286500" y="2909143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Relational Foundations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286500" y="3404443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system models complex mappings like Branch-Track M:N, Instructor-Course associations, and Course-Topic hierarchies.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286500" y="4109293"/>
            <a:ext cx="5334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Key entities include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Student_Exam_Answer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which tracks granular responses, and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Exam_Question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which facilitates modular exam assembly.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3025" y="2085230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System Architecture Overview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E34C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" name="Google Shape;125;p16"/>
          <p:cNvGraphicFramePr/>
          <p:nvPr>
            <p:extLst>
              <p:ext uri="{D42A27DB-BD31-4B8C-83A1-F6EECF244321}">
                <p14:modId xmlns:p14="http://schemas.microsoft.com/office/powerpoint/2010/main" val="3285064063"/>
              </p:ext>
            </p:extLst>
          </p:nvPr>
        </p:nvGraphicFramePr>
        <p:xfrm>
          <a:off x="571500" y="2761505"/>
          <a:ext cx="11049000" cy="2533650"/>
        </p:xfrm>
        <a:graphic>
          <a:graphicData uri="http://schemas.openxmlformats.org/drawingml/2006/table">
            <a:tbl>
              <a:tblPr firstRow="1" bandRow="1">
                <a:noFill/>
                <a:tableStyleId>{A7B2207E-046F-40BC-A5E8-B29679C286B8}</a:tableStyleId>
              </a:tblPr>
              <a:tblGrid>
                <a:gridCol w="173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34C2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34C2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Primary Key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34C2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SQL Definition Fragment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Branch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branch_id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 err="1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branch_name</a:t>
                      </a: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VARCHAR(50), </a:t>
                      </a:r>
                      <a:r>
                        <a:rPr lang="en-US" sz="1050" b="0" i="0" u="none" strike="noStrike" cap="none" dirty="0" err="1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branch_location</a:t>
                      </a: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VARCHAR(50)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Track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track_id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 err="1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track_name</a:t>
                      </a: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VARCHAR(50), </a:t>
                      </a:r>
                      <a:r>
                        <a:rPr lang="en-US" sz="1050" b="0" i="0" u="none" strike="noStrike" cap="none" dirty="0" err="1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supervisor_id</a:t>
                      </a: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INT (FK)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Instructor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ins_id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 err="1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ins_fname</a:t>
                      </a: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VARCHAR(50), gender CHAR(1) CHECK...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Course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course_id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 err="1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course_name</a:t>
                      </a: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VARCHAR(50), hours INT CHECK (hours &gt; 0)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Student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student_id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 err="1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student_fname</a:t>
                      </a: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VARCHAR(50), </a:t>
                      </a:r>
                      <a:r>
                        <a:rPr lang="en-US" sz="1050" b="0" i="0" u="none" strike="noStrike" cap="none" dirty="0" err="1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student_age</a:t>
                      </a: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INT CHECK &gt;= 18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6" name="Google Shape;126;p16"/>
          <p:cNvSpPr/>
          <p:nvPr/>
        </p:nvSpPr>
        <p:spPr>
          <a:xfrm>
            <a:off x="571500" y="3218705"/>
            <a:ext cx="1733698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2305198" y="3218705"/>
            <a:ext cx="184398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4149179" y="3218705"/>
            <a:ext cx="747132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71500" y="3642568"/>
            <a:ext cx="17336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2305198" y="3642568"/>
            <a:ext cx="18439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4149179" y="3642568"/>
            <a:ext cx="747132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71500" y="4052143"/>
            <a:ext cx="17336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2305198" y="4052143"/>
            <a:ext cx="18439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4149179" y="4052143"/>
            <a:ext cx="747132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71500" y="4461718"/>
            <a:ext cx="17336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2305198" y="4461718"/>
            <a:ext cx="18439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4149179" y="4461718"/>
            <a:ext cx="747132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71500" y="4871293"/>
            <a:ext cx="17336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2305198" y="4871293"/>
            <a:ext cx="18439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149179" y="4871293"/>
            <a:ext cx="747132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71500" y="5280868"/>
            <a:ext cx="17336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2305198" y="5280868"/>
            <a:ext cx="18439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149179" y="5280868"/>
            <a:ext cx="747132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Core Schema: Physical Entities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E34C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" name="Google Shape;151;p17"/>
          <p:cNvGraphicFramePr/>
          <p:nvPr>
            <p:extLst>
              <p:ext uri="{D42A27DB-BD31-4B8C-83A1-F6EECF244321}">
                <p14:modId xmlns:p14="http://schemas.microsoft.com/office/powerpoint/2010/main" val="2070573369"/>
              </p:ext>
            </p:extLst>
          </p:nvPr>
        </p:nvGraphicFramePr>
        <p:xfrm>
          <a:off x="571500" y="2761505"/>
          <a:ext cx="11049000" cy="2533650"/>
        </p:xfrm>
        <a:graphic>
          <a:graphicData uri="http://schemas.openxmlformats.org/drawingml/2006/table">
            <a:tbl>
              <a:tblPr firstRow="1" bandRow="1">
                <a:noFill/>
                <a:tableStyleId>{A7B2207E-046F-40BC-A5E8-B29679C286B8}</a:tableStyleId>
              </a:tblPr>
              <a:tblGrid>
                <a:gridCol w="188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34C2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34C2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Composite / Primary Key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34C2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Design Logic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Question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(course_id, question_id)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Course-scoped question bank (Weak Entity)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Choice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(course_id, question_id, id)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Candidate answers with </a:t>
                      </a:r>
                      <a:r>
                        <a:rPr lang="en-US" sz="1050" b="0" i="0" u="none" strike="noStrike" cap="none" dirty="0" err="1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is_correct</a:t>
                      </a: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BIT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Exam_Question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(exam_id, crs_id, q_id)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Junction table for randomized exam contents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Student_Exam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(student_id, exam_id)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Tracks attempt registration and </a:t>
                      </a:r>
                      <a:r>
                        <a:rPr lang="en-US" sz="1050" b="0" i="0" u="none" strike="noStrike" cap="none" dirty="0" err="1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total_grade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Exam_Answer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(st_id, ex_id, crs_id, q_id)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Normalized quaternary relation for submissions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2" name="Google Shape;152;p17"/>
          <p:cNvSpPr/>
          <p:nvPr/>
        </p:nvSpPr>
        <p:spPr>
          <a:xfrm>
            <a:off x="571500" y="3218705"/>
            <a:ext cx="1883568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2455068" y="3218705"/>
            <a:ext cx="357053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6025604" y="3218705"/>
            <a:ext cx="559489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71500" y="3642568"/>
            <a:ext cx="18835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2455068" y="3642568"/>
            <a:ext cx="35705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6025604" y="3642568"/>
            <a:ext cx="559489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571500" y="4052143"/>
            <a:ext cx="18835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2455068" y="4052143"/>
            <a:ext cx="35705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6025604" y="4052143"/>
            <a:ext cx="559489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71500" y="4461718"/>
            <a:ext cx="18835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2455068" y="4461718"/>
            <a:ext cx="35705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6025604" y="4461718"/>
            <a:ext cx="559489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71500" y="4871293"/>
            <a:ext cx="18835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2455068" y="4871293"/>
            <a:ext cx="35705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6025604" y="4871293"/>
            <a:ext cx="559489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571500" y="5280868"/>
            <a:ext cx="18835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2455068" y="5280868"/>
            <a:ext cx="35705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6025604" y="5280868"/>
            <a:ext cx="559489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Weak Entities &amp; Junctions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E34C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904875" y="3109168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Tracks can be offered at multiple branches via junction.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904875" y="3480643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One supervisor per track (enforced via unique index).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904875" y="3852118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Topics must map to exactly one specific Course.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904875" y="4223593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Question bank is course-scoped with composite PKs.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904875" y="4595068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MCQs require exactly one Choice.is_correct = 1.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6619875" y="3109168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Student enrollment is required before taking exams.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619875" y="3480643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Exams must be generated via ExamGeneration SP.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619875" y="3852118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Single attempt policy: duplicate attempts are blocked.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619875" y="4223593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Correctness computed as an integer percentage.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619875" y="4595068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Referential integrity: 3NF normalization maintained.</a:t>
            </a:r>
            <a:endParaRPr/>
          </a:p>
        </p:txBody>
      </p:sp>
      <p:pic>
        <p:nvPicPr>
          <p:cNvPr id="187" name="Google Shape;18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5203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2350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9498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6645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3793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15203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52350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89498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26645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63793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10 Strict Business Rules Enforced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E34C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80778"/>
            <a:ext cx="352425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180778"/>
            <a:ext cx="352425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180778"/>
            <a:ext cx="3524250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857250" y="2504628"/>
            <a:ext cx="31003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ExamGeneration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857250" y="2999928"/>
            <a:ext cx="295275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Randomly selects N MCQ and M TF questions using ORDER BY NEWID() and TABLOCKX for safety.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4619625" y="2504628"/>
            <a:ext cx="31003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ExamAnswer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4619625" y="2999928"/>
            <a:ext cx="29527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Parses CSV answers, validates student eligibility, and prevents re-submissions within an explicit transaction.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8382000" y="2504628"/>
            <a:ext cx="31003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ExamCorrection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8382000" y="2999928"/>
            <a:ext cx="295275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Uses TRY_CAST to map student answers to choice_id and computes final grades automatically.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Core Logic: Stored Procedures</a:t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E34C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0" name="Google Shape;220;p20"/>
          <p:cNvGraphicFramePr/>
          <p:nvPr>
            <p:extLst>
              <p:ext uri="{D42A27DB-BD31-4B8C-83A1-F6EECF244321}">
                <p14:modId xmlns:p14="http://schemas.microsoft.com/office/powerpoint/2010/main" val="1608476593"/>
              </p:ext>
            </p:extLst>
          </p:nvPr>
        </p:nvGraphicFramePr>
        <p:xfrm>
          <a:off x="571500" y="2761505"/>
          <a:ext cx="11048975" cy="2533650"/>
        </p:xfrm>
        <a:graphic>
          <a:graphicData uri="http://schemas.openxmlformats.org/drawingml/2006/table">
            <a:tbl>
              <a:tblPr firstRow="1" bandRow="1">
                <a:noFill/>
                <a:tableStyleId>{A7B2207E-046F-40BC-A5E8-B29679C286B8}</a:tableStyleId>
              </a:tblPr>
              <a:tblGrid>
                <a:gridCol w="242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1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34C2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Procedure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34C2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Key Output Columns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34C2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Purpose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 err="1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Course_Topics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course_name, topic_name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Syllabus overview for students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 err="1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Exam_Questions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description, choice_text, is_correct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Reviewing specific exam contents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Instructor_Courses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 err="1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course_id</a:t>
                      </a: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, </a:t>
                      </a:r>
                      <a:r>
                        <a:rPr lang="en-US" sz="1050" b="0" i="0" u="none" strike="noStrike" cap="none" dirty="0" err="1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student_count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Tracking instructor teaching load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Student_grade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Full_Name, course_name, grade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Official transcript generation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Exam_Model_Answer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description, student_ans, correct_ans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Student feedback and review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1" name="Google Shape;221;p20"/>
          <p:cNvSpPr/>
          <p:nvPr/>
        </p:nvSpPr>
        <p:spPr>
          <a:xfrm>
            <a:off x="571500" y="3218705"/>
            <a:ext cx="2421284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2992784" y="3218705"/>
            <a:ext cx="453643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7529214" y="3218705"/>
            <a:ext cx="409128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571500" y="3642568"/>
            <a:ext cx="242128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2992784" y="3642568"/>
            <a:ext cx="45364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7529214" y="3642568"/>
            <a:ext cx="40912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571500" y="4052143"/>
            <a:ext cx="242128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2992784" y="4052143"/>
            <a:ext cx="45364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7529214" y="4052143"/>
            <a:ext cx="40912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571500" y="4461718"/>
            <a:ext cx="242128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2992784" y="4461718"/>
            <a:ext cx="45364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7529214" y="4461718"/>
            <a:ext cx="40912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571500" y="4871293"/>
            <a:ext cx="242128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2992784" y="4871293"/>
            <a:ext cx="45364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7529214" y="4871293"/>
            <a:ext cx="40912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571500" y="5280868"/>
            <a:ext cx="242128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2992784" y="5280868"/>
            <a:ext cx="45364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7529214" y="5280868"/>
            <a:ext cx="40912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Built-in Analytics &amp; Reporting</a:t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E34C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18630"/>
            <a:ext cx="35242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618630"/>
            <a:ext cx="35242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618630"/>
            <a:ext cx="3524250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 txBox="1"/>
          <p:nvPr/>
        </p:nvSpPr>
        <p:spPr>
          <a:xfrm>
            <a:off x="857250" y="3590180"/>
            <a:ext cx="31003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Transaction Safety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857250" y="4085480"/>
            <a:ext cx="29527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Uses SET XACT_ABORT ON and explicit rolls backs to ensure atomic operations during exam grading.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4619625" y="3590180"/>
            <a:ext cx="31003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RBAC Implementation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4619625" y="4085480"/>
            <a:ext cx="29527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Roles: db_admin (Global), db_instructor (Course/Exam), db_student (Read-only results).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8382000" y="3590180"/>
            <a:ext cx="31003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Trigger Logic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8382000" y="4085480"/>
            <a:ext cx="29527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4 Critical triggers: Course matching, supervisor verification, registration validation, and answer safety.</a:t>
            </a:r>
            <a:endParaRPr/>
          </a:p>
        </p:txBody>
      </p:sp>
      <p:pic>
        <p:nvPicPr>
          <p:cNvPr id="255" name="Google Shape;25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97105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19625" y="297105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82000" y="297105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Enterprise Security Framework</a:t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E34C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85616"/>
            <a:ext cx="11049000" cy="239017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2"/>
          <p:cNvSpPr txBox="1"/>
          <p:nvPr/>
        </p:nvSpPr>
        <p:spPr>
          <a:xfrm>
            <a:off x="6286500" y="2785616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Optimized Indices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6286500" y="4642395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Recommendation: Replace MAX(id)+1 with SEQUENCE objects for high-concurrency environments.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Performance &amp; Scaling Architecture</a:t>
            </a: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E34C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/>
          <p:nvPr/>
        </p:nvSpPr>
        <p:spPr>
          <a:xfrm>
            <a:off x="1284535" y="414263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34C26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2863006" y="414263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34C26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4441477" y="414263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34C26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6019948" y="414263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34C26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7598419" y="414263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34C26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9176891" y="414263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34C26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10755362" y="414263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34C26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571500" y="421883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532038" y="4504580"/>
            <a:ext cx="1657394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1. Setup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571500" y="4857005"/>
            <a:ext cx="1578471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Create Course &amp; Q-Bank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2110509" y="3271093"/>
            <a:ext cx="1657394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2. Enroll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2149971" y="3623518"/>
            <a:ext cx="1578471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Student Enrollment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3688980" y="4504580"/>
            <a:ext cx="1657394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3. Generate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3728442" y="4857005"/>
            <a:ext cx="1578471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Randomized Exam SP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5267451" y="3271093"/>
            <a:ext cx="1657394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4. Register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5306913" y="3623518"/>
            <a:ext cx="1578471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Student to Exam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6845922" y="4504580"/>
            <a:ext cx="1657394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5. Submit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6885384" y="4857005"/>
            <a:ext cx="1578471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ExamAnswer SP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8424393" y="3271093"/>
            <a:ext cx="1657394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6. Grade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8463855" y="3623518"/>
            <a:ext cx="1578471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 Correction SP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10002864" y="4504580"/>
            <a:ext cx="1657394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7. Report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10042326" y="4857005"/>
            <a:ext cx="1578471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Final Performance View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Lifecycle of an Examination</a:t>
            </a: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571500" y="903535"/>
            <a:ext cx="57150" cy="485775"/>
          </a:xfrm>
          <a:prstGeom prst="rect">
            <a:avLst/>
          </a:prstGeom>
          <a:solidFill>
            <a:srgbClr val="E34C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8659" y="19864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57512"/>
            <a:ext cx="19050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52750" y="2957512"/>
            <a:ext cx="19050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43500" y="2957512"/>
            <a:ext cx="19050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0" y="2957511"/>
            <a:ext cx="19050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34250" y="2957512"/>
            <a:ext cx="19050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4"/>
          <p:cNvSpPr txBox="1"/>
          <p:nvPr/>
        </p:nvSpPr>
        <p:spPr>
          <a:xfrm>
            <a:off x="571500" y="742950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PRODUCTION-READY RDBMS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295275" y="1569243"/>
            <a:ext cx="11601450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Built By the Team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571500" y="390048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Connect with us on LinkedIn for Database Architecture &amp; T-SQL Development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571500" y="432911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34C26"/>
                </a:solidFill>
                <a:latin typeface="Urbanist"/>
                <a:ea typeface="Urbanist"/>
                <a:cs typeface="Urbanist"/>
                <a:sym typeface="Urbanist"/>
              </a:rPr>
              <a:t>ExaminationSystem v1.0.0 | Enterprise Database Solutions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755</Words>
  <Application>Microsoft Office PowerPoint</Application>
  <PresentationFormat>Widescreen</PresentationFormat>
  <Paragraphs>120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Urbanist</vt:lpstr>
      <vt:lpstr>JetBrains Mono</vt:lpstr>
      <vt:lpstr>Urbanist Medium</vt:lpstr>
      <vt:lpstr>Calibri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Abdelaziz Gamal</cp:lastModifiedBy>
  <cp:revision>2</cp:revision>
  <dcterms:modified xsi:type="dcterms:W3CDTF">2026-05-07T12:24:56Z</dcterms:modified>
</cp:coreProperties>
</file>